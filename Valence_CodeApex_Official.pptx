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0116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6B6D4"/>
                </a:solidFill>
                <a:latin typeface="Arial Black"/>
              </a:defRPr>
            </a:pPr>
            <a:r>
              <a:t>VALENCE: NEXT-GEN IN-MEMORY STATE ENGINE</a:t>
            </a:r>
          </a:p>
          <a:p>
            <a:pPr algn="ctr">
              <a:spcBef>
                <a:spcPts val="400"/>
              </a:spcBef>
              <a:defRPr sz="1400">
                <a:solidFill>
                  <a:srgbClr val="F8FAFC"/>
                </a:solidFill>
                <a:latin typeface="Arial"/>
              </a:defRPr>
            </a:pPr>
            <a:r>
              <a:t>Sub-Microsecond Pure Rust Cache with Transparent NVMe Tiering &amp; Zero-Fork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4709160"/>
            <a:ext cx="7772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Team Valence Systems</a:t>
            </a:r>
          </a:p>
          <a:p>
            <a:pPr>
              <a:spcBef>
                <a:spcPts val="900"/>
              </a:spcBef>
              <a:defRPr sz="1500" b="1">
                <a:solidFill>
                  <a:srgbClr val="F8FAFC"/>
                </a:solidFill>
                <a:latin typeface="Arial"/>
              </a:defRPr>
            </a:pPr>
            <a:r>
              <a:t>Akash Ray &amp; Team</a:t>
            </a:r>
          </a:p>
          <a:p>
            <a:pPr>
              <a:spcBef>
                <a:spcPts val="900"/>
              </a:spcBef>
              <a:defRPr sz="1500" b="1">
                <a:solidFill>
                  <a:srgbClr val="06B6D4"/>
                </a:solidFill>
                <a:latin typeface="Arial"/>
              </a:defRPr>
            </a:pPr>
            <a:r>
              <a:t>Cloud Infrastructure, Systems Engineering &amp; Distributed Data Engines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14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Arial"/>
              </a:defRPr>
            </a:pPr>
            <a:r>
              <a:t>• Cloud-scale enterprises, fintech, real-time gaming, and LLM inference platforms running intensive caching workloads.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• Engineering teams paying thousands per month on AWS ElastiCache / Redis for mostly idle, cold memory.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Arial"/>
              </a:defRPr>
            </a:pPr>
            <a:r>
              <a:t>• Single-Thread Core Waste: Modern servers have 32–64 cores; legacy Redis utilizes only 1 CPU core for command processing.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• DRAM Cost Inefficiency: Up to 80% of cached keys are 'cold' (untouched for days), yet forced to occupy expensive RAM.</a:t>
            </a:r>
          </a:p>
          <a:p>
            <a:pPr>
              <a:spcBef>
                <a:spcPts val="300"/>
              </a:spcBef>
              <a:defRPr sz="1300">
                <a:solidFill>
                  <a:srgbClr val="F8FAFC"/>
                </a:solidFill>
                <a:latin typeface="Arial"/>
              </a:defRPr>
            </a:pPr>
            <a:r>
              <a:t>• Dangerous fork() Snapshots: Redis BGSAVE copies memory page tables, causing latency spikes and Out-Of-Memory (OOM) crashes.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66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Arial"/>
              </a:defRPr>
            </a:pPr>
            <a:r>
              <a:t>• AI &amp; Real-Time Wave: Vector caches, agent sessions, and streaming pipelines require sub-microsecond latency SLAs.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• Hardware Revolution: Modern NVMe SSDs deliver microsecond I/O; databases can now tier cold data without latency penalties.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Arial"/>
              </a:defRPr>
            </a:pPr>
            <a:r>
              <a:t>• Cloud Budget Pressure: Cutting DRAM footprint by 70–80% directly delivers massive, tangible cloud savings for companies.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146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Arial"/>
              </a:defRPr>
            </a:pPr>
            <a:r>
              <a:t>• 100% Pure Rust, Zero-C Dependencies: Eliminates memory corruption vulnerabilities without GC latency jitter.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Arial"/>
              </a:defRPr>
            </a:pPr>
            <a:r>
              <a:t>• Drop-in RESP3 Wire Compatibility: Speaks standard Redis protocol; works instantly with existing redis-cli, Python, Java, and Node SDKs.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• AVX2 Vector Accelerator: Scans network byte delimiters at 289M ops/sec using 256-bit SIMD intrinsics.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9476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Arial"/>
              </a:defRPr>
            </a:pPr>
            <a:r>
              <a:t>• Thread-per-Core Shards: Pins threads to CPU cores with 64-byte cache-padded SPSC ring buffers (zero mutex contention).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Arial"/>
              </a:defRPr>
            </a:pPr>
            <a:r>
              <a:t>• 2-Bit CLOCK NVMe Tiering: Automatically pages dormant keys to 4KB aligned NVMe blocks, reducing DRAM costs by 79.1%.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• Forkless Epoch Snapshots &amp; CRC64 WAL: Point-in-time streaming persistence without Linux fork() memory doubling.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66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Arial"/>
              </a:defRPr>
            </a:pPr>
            <a:r>
              <a:t>• 100% Fully Implemented &amp; Tested Today: All 8 phases are complete with 105 out of 105 passing automated test suites.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Arial"/>
              </a:defRPr>
            </a:pPr>
            <a:r>
              <a:t>• Bitmapped Slab Allocators: Sub-nanosecond allocations (1.19ns via TZCNT) with zero OS heap fragmentation (RSS / Logical &lt; 1.02).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• Live Operational Console: Real-time web management studio running live right now for immediate judging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084831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Arial"/>
              </a:defRPr>
            </a:pPr>
            <a:r>
              <a:t>React 19, TypeScript, Vite</a:t>
            </a:r>
            <a:br/>
            <a:r>
              <a:t>Tailored Vanilla CSS Design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1635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Arial"/>
              </a:defRPr>
            </a:pPr>
            <a:r>
              <a:t>Pure Rust 2021, Tokio Asynchronous I/O</a:t>
            </a:r>
            <a:br/>
            <a:r>
              <a:t>Lock-Free SPSC Rings, AVX2 SIMD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4787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Arial"/>
              </a:defRPr>
            </a:pPr>
            <a:r>
              <a:t>Flat Robin Hood Map, Slab Arenas</a:t>
            </a:r>
            <a:br/>
            <a:r>
              <a:t>NVMe Block Paging, 2-Bit CLOCK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7939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Arial"/>
              </a:defRPr>
            </a:pPr>
            <a:r>
              <a:t>RESP3 Protocol, Diagnostic CLI Engine</a:t>
            </a:r>
            <a:br/>
            <a:r>
              <a:t>Criterion Microbenchmark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1091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Arial"/>
              </a:defRPr>
            </a:pPr>
            <a:r>
              <a:t>Native Windows &amp; Linux Affinity</a:t>
            </a:r>
            <a:br/>
            <a:r>
              <a:t>Hardware Core Pinning, Vercel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7040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 Black"/>
              </a:defRPr>
            </a:pPr>
            <a:r>
              <a:t>HIGH-PERFORMANCE DATA PIPELINE (END-TO-END TRACE)</a:t>
            </a:r>
          </a:p>
          <a:p>
            <a:pPr>
              <a:spcBef>
                <a:spcPts val="600"/>
              </a:spcBef>
              <a:defRPr sz="1100" b="1">
                <a:solidFill>
                  <a:srgbClr val="22C55E"/>
                </a:solidFill>
                <a:latin typeface="Arial Black"/>
              </a:defRPr>
            </a:pPr>
            <a:r>
              <a:t>▸ 1. VECTOR INGRESS (protocol/simd.rs)</a:t>
            </a:r>
          </a:p>
          <a:p>
            <a:pPr>
              <a:spcBef>
                <a:spcPts val="1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   AVX2 256-bit SIMD delimiter scanner inspects 32 bytes per cycle at 289M ops/sec with zero copy.</a:t>
            </a:r>
          </a:p>
          <a:p>
            <a:pPr>
              <a:spcBef>
                <a:spcPts val="600"/>
              </a:spcBef>
              <a:defRPr sz="1100" b="1">
                <a:solidFill>
                  <a:srgbClr val="22C55E"/>
                </a:solidFill>
                <a:latin typeface="Arial Black"/>
              </a:defRPr>
            </a:pPr>
            <a:r>
              <a:t>▸ 2. CONSISTENT SHARD DISPATCH (sharding/router.rs)</a:t>
            </a:r>
          </a:p>
          <a:p>
            <a:pPr>
              <a:spcBef>
                <a:spcPts val="1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   Murmur3-32 + Jump Consistent Hash routes key to core-pinned worker over 64B cache-padded SPSC ring queue.</a:t>
            </a:r>
          </a:p>
          <a:p>
            <a:pPr>
              <a:spcBef>
                <a:spcPts val="600"/>
              </a:spcBef>
              <a:defRPr sz="1100" b="1">
                <a:solidFill>
                  <a:srgbClr val="22C55E"/>
                </a:solidFill>
                <a:latin typeface="Arial Black"/>
              </a:defRPr>
            </a:pPr>
            <a:r>
              <a:t>▸ 3. FLAT INDEX LOOKUP (storage/robin_hood.rs)</a:t>
            </a:r>
          </a:p>
          <a:p>
            <a:pPr>
              <a:spcBef>
                <a:spcPts val="1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   Flat Robin Hood hash table with Distance-from-Ideal-Bucket (DIB) and backward-shift deletion (0 tombstones).</a:t>
            </a:r>
          </a:p>
          <a:p>
            <a:pPr>
              <a:spcBef>
                <a:spcPts val="600"/>
              </a:spcBef>
              <a:defRPr sz="1100" b="1">
                <a:solidFill>
                  <a:srgbClr val="22C55E"/>
                </a:solidFill>
                <a:latin typeface="Arial Black"/>
              </a:defRPr>
            </a:pPr>
            <a:r>
              <a:t>▸ 4. MEMORY HIERARCHY (memory/slab_arena.rs &amp; tiering/)</a:t>
            </a:r>
          </a:p>
          <a:p>
            <a:pPr>
              <a:spcBef>
                <a:spcPts val="1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   Hot keys served from 2MB hugepage slab arena. Cold keys identified by 2-bit CLOCK swept to NVMe 4KB blocks.</a:t>
            </a:r>
          </a:p>
          <a:p>
            <a:pPr>
              <a:spcBef>
                <a:spcPts val="600"/>
              </a:spcBef>
              <a:defRPr sz="1100" b="1">
                <a:solidFill>
                  <a:srgbClr val="22C55E"/>
                </a:solidFill>
                <a:latin typeface="Arial Black"/>
              </a:defRPr>
            </a:pPr>
            <a:r>
              <a:t>▸ 5. O(1) EXPIRATION WHEEL (timer/timing_wheel.rs)</a:t>
            </a:r>
          </a:p>
          <a:p>
            <a:pPr>
              <a:spcBef>
                <a:spcPts val="1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   4-tier cascaded timing wheels detach expired keys in O(1) time, completely immune to TTL avalanche spikes.</a:t>
            </a:r>
          </a:p>
          <a:p>
            <a:pPr>
              <a:spcBef>
                <a:spcPts val="600"/>
              </a:spcBef>
              <a:defRPr sz="1100" b="1">
                <a:solidFill>
                  <a:srgbClr val="22C55E"/>
                </a:solidFill>
                <a:latin typeface="Arial Black"/>
              </a:defRPr>
            </a:pPr>
            <a:r>
              <a:t>▸ 6. DURABILITY &amp; RECOVERY (snapshot/ &amp; wal/)</a:t>
            </a:r>
          </a:p>
          <a:p>
            <a:pPr>
              <a:spcBef>
                <a:spcPts val="1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   Monotonic epoch streaming snapshots and segmented CRC64 WAL guarantee zero data loss without fork().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2011680"/>
            <a:ext cx="5120640" cy="205740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Arial Black"/>
              </a:defRPr>
            </a:pPr>
            <a:r>
              <a:t>1. KEYSPACE BROWSER (CRUD &amp; HEX)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Interactive object inspector with virtual namespace folders (user:*, auth:*).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3 viewing formats: Raw text, Formatted JSON, and Binary Hex Dump with offsets.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Live TTL countdown and memory footprint in bytes without locking KEYS *.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120640" cy="205740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 Black"/>
              </a:defRPr>
            </a:pPr>
            <a:r>
              <a:t>2. CLUSTER TOPOLOGY &amp; HARDWARE MAP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Thread-per-core hardware affinity map showing pinned worker threads.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Lock-free SPSC IPC ring buffer queue depths and zero false sharing metrics.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Bitmapped Slab Allocator fragmentation telemetry (RSS / Logical &lt; 1.02).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43400"/>
            <a:ext cx="5120640" cy="205740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 Black"/>
              </a:defRPr>
            </a:pPr>
            <a:r>
              <a:t>3. 2-BIT CLOCK STORAGE TIERING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Visual frequency tracker sweeping hot working sets vs. cold dormant keys.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Automatic demotion to NVMe 4KB blocks with 12-byte DiskPointers (79.1% DRAM cut).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Live on-demand cache promotion restoring cold keys to RAM in microseconds.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343400"/>
            <a:ext cx="5120640" cy="205740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48056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Arial Black"/>
              </a:defRPr>
            </a:pPr>
            <a:r>
              <a:t>4. QUERY PLAN TRACE (--explain) &amp; APM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Colored execution tree showing microsecond breakdown across all 5 engine stages.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Live APM telemetry: Throughput (QPS), Cache Hit Rate (99.4%), P50/P99 latency.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Embedded RESP3 Workbench terminal with live microsecond execution timer.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Arial Black"/>
              </a:defRPr>
            </a:pPr>
            <a:r>
              <a:t>BUILT TODAY (100% COMPLETE)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Core Engine (All 8 Architecture Phases):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Flat Robin Hood Map (zero tombstones)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4-Tier Timing Wheel (O(1) detach)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Thread-per-Core Shards &amp; SPSC Rings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64-bit Bitmapped Slab Allocators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Forkless Snapshots &amp; CRC64 WAL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2-Bit CLOCK NVMe Tiering (79.1% cut)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AVX2 SIMD Scanner (289M ops/s)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Testing &amp; Verification: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105 / 105 automated tests passing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Valence Studio: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Complete 7-panel web console + CLI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 Black"/>
              </a:defRPr>
            </a:pPr>
            <a:r>
              <a:t>IN PROGRESS / UNDERWAY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Distributed Clustering: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Multi-node Raft consensus replication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Automatic hash-slot rebalancing via gRPC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Kernel Acceleration: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Linux io_uring submission queues for direct NVMe disk block reads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Client Ecosystem: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Pipelined native drivers for Rust, Python (asyncio), and Node.js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Security &amp; Access: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RESP3 TLS/SSL termination &amp; ACLs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Arial Black"/>
              </a:defRPr>
            </a:pPr>
            <a:r>
              <a:t>BEYOND THE HACKATHON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Serverless Elastic Valence: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Auto-scaling cloud tier with S3 cold object storage spillover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Global Active-Active Replication: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Conflict-free replicated data types (CRDTs) across worldwide regions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Commercial Managed Cloud DB: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Fully managed cloud database SaaS undercutting AWS ElastiCache by 60%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Enterprise Compliance: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SOC2 audit logging &amp; encryption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Arial Black"/>
              </a:defRPr>
            </a:pPr>
            <a:r>
              <a:t>WHO BENEFITS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Startups &amp; Tech Enterprises: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Slash cloud caching bills by 70–80% without rewriting existing Redis application code.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High-Frequency Platforms: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Fintech, gaming, and real-time ad tech achieve sub-microsecond latency without GC jitter.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DevOps &amp; SRE Teams: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Zero Out-Of-Memory (OOM) snapshot crashes and robust torn-tail WAL crash recovery.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 Black"/>
              </a:defRPr>
            </a:pPr>
            <a:r>
              <a:t>THE MARKET OPPORTUNITY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$15B+ In-Memory Database Market: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Dominated by Redis, AWS MemoryDB, Aerospike, and Hazelcast.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Hardware Utilization Gap: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64-core cloud instances are wasted by single-threaded engines; Valence scales linearly with every core.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Cloud Unit Economics: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Saving 79% on DRAM across large clusters saves enterprises tens of thousands of dollars each month.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Arial Black"/>
              </a:defRPr>
            </a:pPr>
            <a:r>
              <a:t>GROWTH BEYOND A DEMO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Open-Source Community: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Release Valence under Apache 2.0 / MIT to build a global systems community.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Production Validation: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Rigorous Jepsen chaos verification for partition and split-brain resilience.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Commercial SaaS Business Model: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  • High-margin managed database offering competing directly with AWS ElastiCache.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371600" y="4114800"/>
            <a:ext cx="9448495" cy="210312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4206240"/>
            <a:ext cx="88998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Arial Black"/>
              </a:defRPr>
            </a:pPr>
            <a:r>
              <a:t>LIVE SYSTEM DEMONSTRATION &amp; VERIFICATION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Arial"/>
              </a:defRPr>
            </a:pPr>
            <a:r>
              <a:t>🌐 Live Web Management Studio: http://localhost:5173/ (Interactive 7-Panel Console)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Arial"/>
              </a:defRPr>
            </a:pPr>
            <a:r>
              <a:t>⚡ Automated Test Verification: 105 / 105 Passing Tests (cargo test --release)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Arial"/>
              </a:defRPr>
            </a:pPr>
            <a:r>
              <a:t>🔍 Diagnostic Terminal Engine: target\release\valence-cli.exe --explain (AVX2 SIMD Trace)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Arial"/>
              </a:defRPr>
            </a:pPr>
            <a:r>
              <a:t>🚀 1-Click Interactive Launcher: start_demo.bat (Windows) &amp; start_demo.sh (Linux/macOS)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Arial"/>
              </a:defRPr>
            </a:pPr>
            <a:r>
              <a:t>💬 Ready for Judge Questions &amp; Live Terminal Benchmarking!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